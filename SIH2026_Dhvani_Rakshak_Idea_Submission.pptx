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731520"/>
            <a:ext cx="6858000" cy="1188720"/>
          </a:xfrm>
          <a:prstGeom prst="roundRect">
            <a:avLst/>
          </a:prstGeom>
          <a:solidFill>
            <a:srgbClr val="0A2540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E65100"/>
                </a:solidFill>
              </a:defRPr>
            </a:pPr>
            <a:r>
              <a:t>SMART INDIA HACKATHON 2026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TITLE PAGE — IDEA SUBMISSION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103120"/>
            <a:ext cx="3291840" cy="1188720"/>
          </a:xfrm>
          <a:prstGeom prst="roundRect">
            <a:avLst/>
          </a:prstGeom>
          <a:solidFill>
            <a:srgbClr val="F1F5F9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284C7"/>
                </a:solidFill>
              </a:defRPr>
            </a:pPr>
            <a:r>
              <a:t>PROBLEM STATEMENT ID</a:t>
            </a:r>
          </a:p>
          <a:p>
            <a:pPr>
              <a:defRPr sz="1300" b="1">
                <a:solidFill>
                  <a:srgbClr val="1E293B"/>
                </a:solidFill>
              </a:defRPr>
            </a:pPr>
            <a:r>
              <a:t>SIH2026_CYBER_014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06240" y="2103120"/>
            <a:ext cx="3291840" cy="1188720"/>
          </a:xfrm>
          <a:prstGeom prst="roundRect">
            <a:avLst/>
          </a:prstGeom>
          <a:solidFill>
            <a:srgbClr val="F1F5F9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284C7"/>
                </a:solidFill>
              </a:defRPr>
            </a:pPr>
            <a:r>
              <a:t>PROBLEM STATEMENT TITLE</a:t>
            </a:r>
          </a:p>
          <a:p>
            <a:pPr>
              <a:defRPr sz="1300" b="1">
                <a:solidFill>
                  <a:srgbClr val="1E293B"/>
                </a:solidFill>
              </a:defRPr>
            </a:pPr>
            <a:r>
              <a:t>Real-Time AI Voice Clone Detection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474720"/>
            <a:ext cx="3291840" cy="1188720"/>
          </a:xfrm>
          <a:prstGeom prst="roundRect">
            <a:avLst/>
          </a:prstGeom>
          <a:solidFill>
            <a:srgbClr val="F1F5F9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284C7"/>
                </a:solidFill>
              </a:defRPr>
            </a:pPr>
            <a:r>
              <a:t>THEME</a:t>
            </a:r>
          </a:p>
          <a:p>
            <a:pPr>
              <a:defRPr sz="1300" b="1">
                <a:solidFill>
                  <a:srgbClr val="1E293B"/>
                </a:solidFill>
              </a:defRPr>
            </a:pPr>
            <a:r>
              <a:t>Cyber Security &amp; AI Safety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3474720"/>
            <a:ext cx="3291840" cy="1188720"/>
          </a:xfrm>
          <a:prstGeom prst="roundRect">
            <a:avLst/>
          </a:prstGeom>
          <a:solidFill>
            <a:srgbClr val="F1F5F9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284C7"/>
                </a:solidFill>
              </a:defRPr>
            </a:pPr>
            <a:r>
              <a:t>PS CATEGORY</a:t>
            </a:r>
          </a:p>
          <a:p>
            <a:pPr>
              <a:defRPr sz="1300" b="1">
                <a:solidFill>
                  <a:srgbClr val="1E293B"/>
                </a:solidFill>
              </a:defRPr>
            </a:pPr>
            <a:r>
              <a:t>Software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846320"/>
            <a:ext cx="3291840" cy="1188720"/>
          </a:xfrm>
          <a:prstGeom prst="roundRect">
            <a:avLst/>
          </a:prstGeom>
          <a:solidFill>
            <a:srgbClr val="F1F5F9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284C7"/>
                </a:solidFill>
              </a:defRPr>
            </a:pPr>
            <a:r>
              <a:t>TEAM ID</a:t>
            </a:r>
          </a:p>
          <a:p>
            <a:pPr>
              <a:defRPr sz="1300" b="1">
                <a:solidFill>
                  <a:srgbClr val="1E293B"/>
                </a:solidFill>
              </a:defRPr>
            </a:pPr>
            <a:r>
              <a:t>SIH2026_TEAM_DHVANI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4846320"/>
            <a:ext cx="3291840" cy="1188720"/>
          </a:xfrm>
          <a:prstGeom prst="roundRect">
            <a:avLst/>
          </a:prstGeom>
          <a:solidFill>
            <a:srgbClr val="F1F5F9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284C7"/>
                </a:solidFill>
              </a:defRPr>
            </a:pPr>
            <a:r>
              <a:t>TEAM NAME</a:t>
            </a:r>
          </a:p>
          <a:p>
            <a:pPr>
              <a:defRPr sz="1300" b="1">
                <a:solidFill>
                  <a:srgbClr val="1E293B"/>
                </a:solidFill>
              </a:defRPr>
            </a:pPr>
            <a:r>
              <a:t>Dhvani Rakshak</a:t>
            </a:r>
          </a:p>
        </p:txBody>
      </p:sp>
      <p:pic>
        <p:nvPicPr>
          <p:cNvPr id="9" name="Picture 8" descr="feature_dashbo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731520"/>
            <a:ext cx="3657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IDEA TITLE: Dhvani Rakshak — Solution &amp; Extra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91440"/>
            <a:ext cx="3200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E65100"/>
                </a:solidFill>
              </a:defRPr>
            </a:pPr>
            <a:r>
              <a:t>SMART INDIA HACKATHON 2026</a:t>
            </a:r>
            <a:br/>
            <a:r>
              <a:t>Team: Dhvani Rakshak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486400" cy="5303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500" b="1">
                <a:solidFill>
                  <a:srgbClr val="0A2540"/>
                </a:solidFill>
              </a:defRPr>
            </a:pPr>
            <a:r>
              <a:t>🟢 Core System Features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Real-Time Call Scanner (&lt; 200 ms latency)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AI Scam Attack Call Simulator Sandbox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Executive Security Dashboard (₹2.45 Cr Saved)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10-Sec Privacy Enrollment Studio (Zero Audio Saved)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Auto-Block Policy Configurator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DPDP Act 2023 &amp; RBI Safety Audit Logs</a:t>
            </a:r>
          </a:p>
          <a:p>
            <a:pPr>
              <a:spcBef>
                <a:spcPts val="800"/>
              </a:spcBef>
              <a:spcAft>
                <a:spcPts val="600"/>
              </a:spcAft>
              <a:defRPr sz="1400" b="1">
                <a:solidFill>
                  <a:srgbClr val="E65100"/>
                </a:solidFill>
              </a:defRPr>
            </a:pPr>
            <a:r>
              <a:t>🌟 4 EXTRA ADDED FEATURES (Our Innovations)</a:t>
            </a:r>
          </a:p>
          <a:p>
            <a:pPr>
              <a:spcAft>
                <a:spcPts val="400"/>
              </a:spcAft>
              <a:defRPr sz="1150" b="1">
                <a:solidFill>
                  <a:srgbClr val="1E293B"/>
                </a:solidFill>
              </a:defRPr>
            </a:pPr>
            <a:r>
              <a:t>• 🔗 Blockchain Voice Pass (Polygon SHA-256 court proof)</a:t>
            </a:r>
          </a:p>
          <a:p>
            <a:pPr>
              <a:spcAft>
                <a:spcPts val="400"/>
              </a:spcAft>
              <a:defRPr sz="1150" b="1">
                <a:solidFill>
                  <a:srgbClr val="1E293B"/>
                </a:solidFill>
              </a:defRPr>
            </a:pPr>
            <a:r>
              <a:t>• 💓 Behavioral Biometrics (Keystroke, mouse &amp; stress dynamics)</a:t>
            </a:r>
          </a:p>
          <a:p>
            <a:pPr>
              <a:spcAft>
                <a:spcPts val="400"/>
              </a:spcAft>
              <a:defRPr sz="1150" b="1">
                <a:solidFill>
                  <a:srgbClr val="1E293B"/>
                </a:solidFill>
              </a:defRPr>
            </a:pPr>
            <a:r>
              <a:t>• 🎖️ Govt VIP Protection (IAS/IPS emergency police webhooks)</a:t>
            </a:r>
          </a:p>
          <a:p>
            <a:pPr>
              <a:spcAft>
                <a:spcPts val="400"/>
              </a:spcAft>
              <a:defRPr sz="1150" b="1">
                <a:solidFill>
                  <a:srgbClr val="1E293B"/>
                </a:solidFill>
              </a:defRPr>
            </a:pPr>
            <a:r>
              <a:t>• 🧠 Explainable AI (XAI) ('Flat pitch' plain-English cards)</a:t>
            </a:r>
          </a:p>
        </p:txBody>
      </p:sp>
      <p:pic>
        <p:nvPicPr>
          <p:cNvPr id="6" name="Picture 5" descr="feature_monito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188720"/>
            <a:ext cx="4937760" cy="2514600"/>
          </a:xfrm>
          <a:prstGeom prst="rect">
            <a:avLst/>
          </a:prstGeom>
        </p:spPr>
      </p:pic>
      <p:pic>
        <p:nvPicPr>
          <p:cNvPr id="7" name="Picture 6" descr="feature_xai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3977639"/>
            <a:ext cx="4937760" cy="2514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TECHNICAL APPROACH — System Architecture Flowchart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91440"/>
            <a:ext cx="3200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E65100"/>
                </a:solidFill>
              </a:defRPr>
            </a:pPr>
            <a:r>
              <a:t>SMART INDIA HACKATHON 2026</a:t>
            </a:r>
            <a:br/>
            <a:r>
              <a:t>Team: Dhvani Rakshak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48640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A2540"/>
                </a:solidFill>
              </a:defRPr>
            </a:pPr>
            <a:r>
              <a:t>Step 1: Audio Ingestion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Live Phone Call WebSockets tap -&gt; 16kHz mono normalization.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14600"/>
            <a:ext cx="548640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284C7"/>
                </a:solidFill>
              </a:defRPr>
            </a:pPr>
            <a:r>
              <a:t>Step 2: Feature Extraction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500ms Sliding Window -&gt; Extract 40 MFCCs &amp; pitch jitter.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548640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E65100"/>
                </a:solidFill>
              </a:defRPr>
            </a:pPr>
            <a:r>
              <a:t>Step 3: AI Classification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Deep Neural Model computes Risk Score (0 - 100%).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66359"/>
            <a:ext cx="548640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Step 4: Action &amp; Audit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Auto Call Cut / Step-up OTP -&gt; Polygon Blockchain Merkle proof.</a:t>
            </a:r>
          </a:p>
        </p:txBody>
      </p:sp>
      <p:pic>
        <p:nvPicPr>
          <p:cNvPr id="9" name="Picture 8" descr="feature_enrollm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188720"/>
            <a:ext cx="493776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FEASIBILITY AND RISK MITIGATION GRID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91440"/>
            <a:ext cx="3200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E65100"/>
                </a:solidFill>
              </a:defRPr>
            </a:pPr>
            <a:r>
              <a:t>SMART INDIA HACKATHON 2026</a:t>
            </a:r>
            <a:br/>
            <a:r>
              <a:t>Team: Dhvani Rakshak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486400" cy="1005840"/>
          </a:xfrm>
          <a:prstGeom prst="roundRect">
            <a:avLst/>
          </a:prstGeom>
          <a:solidFill>
            <a:srgbClr val="F1F5F9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284C7"/>
                </a:solidFill>
              </a:defRPr>
            </a:pPr>
            <a:r>
              <a:t>⚡ Sub-200ms Speed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Real-time call stream interception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5486400" cy="1005840"/>
          </a:xfrm>
          <a:prstGeom prst="roundRect">
            <a:avLst/>
          </a:prstGeom>
          <a:solidFill>
            <a:srgbClr val="F1F5F9"/>
          </a:solidFill>
          <a:ln>
            <a:solidFill>
              <a:srgbClr val="0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A2540"/>
                </a:solidFill>
              </a:defRPr>
            </a:pPr>
            <a:r>
              <a:t>🔒 Zero Storage Overhead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RAM volatile processing only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83280"/>
            <a:ext cx="5486400" cy="1005840"/>
          </a:xfrm>
          <a:prstGeom prst="roundRect">
            <a:avLst/>
          </a:prstGeom>
          <a:solidFill>
            <a:srgbClr val="F1F5F9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🌟 Extra XAI Clarity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Plain-English fraud explanation cards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480560"/>
            <a:ext cx="1069848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E65100"/>
                </a:solidFill>
              </a:defRPr>
            </a:pPr>
            <a:r>
              <a:t>⚠️ RISKS &amp; STRATEGIES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Lossy 2G/4G Cellular Compression  --&gt;  Strategy: 16kHz F0 pitch phase consistency resilient to codecs.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Court Fraud Disputes  --&gt;  Strategy: 🌟 Extra Blockchain Voice Pass stamps SHA-256 Merkle root on Polygon.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Sore Throat / Cold False Positives  --&gt;  Strategy: 🌟 Extra Behavioral Biometrics scoring with Step-Up OTP.</a:t>
            </a:r>
          </a:p>
        </p:txBody>
      </p:sp>
      <p:pic>
        <p:nvPicPr>
          <p:cNvPr id="9" name="Picture 8" descr="feature_polic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188720"/>
            <a:ext cx="493776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IMPACT AND BENEFITS — Social, Economic &amp; Legal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91440"/>
            <a:ext cx="3200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E65100"/>
                </a:solidFill>
              </a:defRPr>
            </a:pPr>
            <a:r>
              <a:t>SMART INDIA HACKATHON 2026</a:t>
            </a:r>
            <a:br/>
            <a:r>
              <a:t>Team: Dhvani Rakshak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1691640" cy="1280160"/>
          </a:xfrm>
          <a:prstGeom prst="roundRect">
            <a:avLst/>
          </a:prstGeom>
          <a:solidFill>
            <a:srgbClr val="0A2540"/>
          </a:solidFill>
          <a:ln w="254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E65100"/>
                </a:solidFill>
              </a:defRPr>
            </a:pPr>
            <a:r>
              <a:t>₹2.45 Crore+</a:t>
            </a:r>
          </a:p>
          <a:p>
            <a:pPr algn="ctr">
              <a:defRPr sz="1000" b="1">
                <a:solidFill>
                  <a:srgbClr val="FFFFFF"/>
                </a:solidFill>
              </a:defRPr>
            </a:pPr>
            <a:r>
              <a:t>Fraud Money Saved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1188720"/>
            <a:ext cx="1691640" cy="1280160"/>
          </a:xfrm>
          <a:prstGeom prst="roundRect">
            <a:avLst/>
          </a:prstGeom>
          <a:solidFill>
            <a:srgbClr val="0A2540"/>
          </a:solidFill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284C7"/>
                </a:solidFill>
              </a:defRPr>
            </a:pPr>
            <a:r>
              <a:t>100% DPDP Act</a:t>
            </a:r>
          </a:p>
          <a:p>
            <a:pPr algn="ctr">
              <a:defRPr sz="1000" b="1">
                <a:solidFill>
                  <a:srgbClr val="FFFFFF"/>
                </a:solidFill>
              </a:defRPr>
            </a:pPr>
            <a:r>
              <a:t>Zero Audio Retention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188720"/>
            <a:ext cx="1691640" cy="1280160"/>
          </a:xfrm>
          <a:prstGeom prst="roundRect">
            <a:avLst/>
          </a:prstGeom>
          <a:solidFill>
            <a:srgbClr val="0A2540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4 Extra Features</a:t>
            </a:r>
          </a:p>
          <a:p>
            <a:pPr algn="ctr">
              <a:defRPr sz="1000" b="1">
                <a:solidFill>
                  <a:srgbClr val="FFFFFF"/>
                </a:solidFill>
              </a:defRPr>
            </a:pPr>
            <a:r>
              <a:t>XAI, VIP, Web3 &amp; Biometrics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51760"/>
            <a:ext cx="5394960" cy="3840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400" b="1">
                <a:solidFill>
                  <a:srgbClr val="0284C7"/>
                </a:solidFill>
              </a:defRPr>
            </a:pPr>
            <a:r>
              <a:t>🎯 TRIPLE-IMPACT BENEFITS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Social Impact: Restores public trust in phone calls; VIP Shield prevents IAS/IPS officer extortion.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Economic Impact: Prevents multi-crore wire transfer fraud in banking call centers.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Legal Impact: Blockchain Voice Pass provides tamper-proof court evidence; 100% DPDP Act &amp; RBI compliant.</a:t>
            </a:r>
          </a:p>
        </p:txBody>
      </p:sp>
      <p:pic>
        <p:nvPicPr>
          <p:cNvPr id="9" name="Picture 8" descr="feature_gov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188720"/>
            <a:ext cx="502920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RESEARCH AND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91440"/>
            <a:ext cx="3200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E65100"/>
                </a:solidFill>
              </a:defRPr>
            </a:pPr>
            <a:r>
              <a:t>SMART INDIA HACKATHON 2026</a:t>
            </a:r>
            <a:br/>
            <a:r>
              <a:t>Team: Dhvani Rakshak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48640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A2540"/>
                </a:solidFill>
              </a:defRPr>
            </a:pPr>
            <a:r>
              <a:t>📊 ASVspoof 2021/2023 Benchmarks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Official synthetic speech evaluation datasets.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548640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284C7"/>
                </a:solidFill>
              </a:defRPr>
            </a:pPr>
            <a:r>
              <a:t>📜 India DPDP Act 2023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Rules for Zero Raw Audio retention &amp; privacy compliance.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91839"/>
            <a:ext cx="548640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E65100"/>
                </a:solidFill>
              </a:defRPr>
            </a:pPr>
            <a:r>
              <a:t>🏛️ RBI Cyber Security 2023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Bank guidelines for multi-factor voice authentication.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343400"/>
            <a:ext cx="548640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🧠 PyTorch ECAPA-TDNN &amp; SHAP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Research papers on speaker embeddings &amp; Explainable AI.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394959"/>
            <a:ext cx="548640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A2540"/>
                </a:solidFill>
              </a:defRPr>
            </a:pPr>
            <a:r>
              <a:t>🔗 Polygon Web3 Smart Contracts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Blockchain standards for SHA-256 Merkle court proof.</a:t>
            </a:r>
          </a:p>
        </p:txBody>
      </p:sp>
      <p:pic>
        <p:nvPicPr>
          <p:cNvPr id="10" name="Picture 9" descr="feature_blockcha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188720"/>
            <a:ext cx="4937760" cy="5303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